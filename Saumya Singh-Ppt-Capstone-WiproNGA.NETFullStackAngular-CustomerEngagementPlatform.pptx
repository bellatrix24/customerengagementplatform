
<file path=[Content_Types].xml><?xml version="1.0" encoding="utf-8"?>
<Types xmlns="http://schemas.openxmlformats.org/package/2006/content-types">
  <Default Extension="bin" ContentType="image/unknown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4" r:id="rId18"/>
    <p:sldId id="272" r:id="rId19"/>
    <p:sldId id="273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17" d="100"/>
          <a:sy n="117" d="100"/>
        </p:scale>
        <p:origin x="22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66777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bin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WIPRO CAPSTONE PROJECT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36789" y="777240"/>
            <a:ext cx="5281476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</a:t>
            </a:r>
            <a:endParaRPr lang="en-US" sz="5200" dirty="0"/>
          </a:p>
          <a:p>
            <a:pPr marL="0" indent="0" algn="l">
              <a:buNone/>
            </a:pPr>
            <a:r>
              <a:rPr lang="en-US" sz="5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Engagement</a:t>
            </a:r>
            <a:endParaRPr lang="en-US" sz="5200" dirty="0"/>
          </a:p>
          <a:p>
            <a:pPr marL="0" indent="0" algn="l">
              <a:buNone/>
            </a:pPr>
            <a:r>
              <a:rPr lang="en-US" sz="5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40080" y="3520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 Saumya Singh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4564652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MVC  |  SQL Server  |  EF Core  |  JWT  |  Swagger</a:t>
            </a:r>
            <a:endParaRPr lang="en-US" sz="900" dirty="0"/>
          </a:p>
        </p:txBody>
      </p:sp>
      <p:pic>
        <p:nvPicPr>
          <p:cNvPr id="8" name="Image 0" descr="C:\Users\archi\OneDrive\Desktop\Projects\Wipro\Practice\CustomerEngagementPlatform\screenshots\01_landing.png"/>
          <p:cNvPicPr>
            <a:picLocks noChangeAspect="1"/>
          </p:cNvPicPr>
          <p:nvPr/>
        </p:nvPicPr>
        <p:blipFill>
          <a:blip r:embed="rId3"/>
          <a:srcRect t="4687"/>
          <a:stretch>
            <a:fillRect/>
          </a:stretch>
        </p:blipFill>
        <p:spPr>
          <a:xfrm>
            <a:off x="4388304" y="1114424"/>
            <a:ext cx="4612005" cy="31375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Problem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1261872"/>
            <a:ext cx="813816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Organizations need one place to manage customers and service tickets instead of juggling spreadsheets and emails.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0" y="1417320"/>
            <a:ext cx="41148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support requests manually leads to missed tickets</a:t>
            </a:r>
            <a:endParaRPr lang="en-US" sz="13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 into which tickets are open or resolved</a:t>
            </a:r>
            <a:endParaRPr lang="en-US" sz="13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data scattered across multiple tools</a:t>
            </a:r>
            <a:endParaRPr lang="en-US" sz="13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role-based access to separate staff from customers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Objectives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1261872"/>
            <a:ext cx="813816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3840480" cy="91440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67512" y="15087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Management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67512" y="1801368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and manage customer profiles with full history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07992" y="1417320"/>
            <a:ext cx="3840480" cy="91440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72584" y="15087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Management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72584" y="1801368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assign, and track service tickets end-to-end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496312"/>
            <a:ext cx="3840480" cy="91440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67512" y="258775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Based Access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7512" y="2880360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portals for customers and staff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07992" y="2496312"/>
            <a:ext cx="3840480" cy="91440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672584" y="258775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Analytics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72584" y="2880360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stats to monitor team performance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575304"/>
            <a:ext cx="3840480" cy="91440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67512" y="366674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APIs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7512" y="3959352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JWT-protected REST endpoints with Swagger docs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07992" y="3575304"/>
            <a:ext cx="3840480" cy="91440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672584" y="366674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Lifecycle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72584" y="3959352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status flow: Open, In Progress, Resolved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1261872"/>
            <a:ext cx="813816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1572768" cy="31089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453896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1728216"/>
            <a:ext cx="1572768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1819656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MVC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2313432"/>
            <a:ext cx="1572768" cy="530352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2404872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 Views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2898648"/>
            <a:ext cx="1572768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2990088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3483864"/>
            <a:ext cx="1572768" cy="530352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" y="3575304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jQuery AJAX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167128" y="1417320"/>
            <a:ext cx="1572768" cy="31089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258568" y="1453896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167128" y="1728216"/>
            <a:ext cx="1572768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258568" y="1819656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8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167128" y="2313432"/>
            <a:ext cx="1572768" cy="530352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258568" y="2404872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167128" y="2898648"/>
            <a:ext cx="1572768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258568" y="2990088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167128" y="3483864"/>
            <a:ext cx="1572768" cy="530352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258568" y="3575304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Layer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831336" y="1417320"/>
            <a:ext cx="1572768" cy="31089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922776" y="1453896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831336" y="1728216"/>
            <a:ext cx="1572768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922776" y="1819656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831336" y="2313432"/>
            <a:ext cx="1572768" cy="530352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922776" y="2404872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Framework Core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831336" y="2898648"/>
            <a:ext cx="1572768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922776" y="2990088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Code-First Migrations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495544" y="1417320"/>
            <a:ext cx="1572768" cy="31089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586984" y="1453896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495544" y="1728216"/>
            <a:ext cx="1572768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586984" y="1819656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Identity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495544" y="2313432"/>
            <a:ext cx="1572768" cy="530352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586984" y="2404872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Bearer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495544" y="2898648"/>
            <a:ext cx="1572768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586984" y="2990088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Auth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159752" y="1417320"/>
            <a:ext cx="1572768" cy="31089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251192" y="1453896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159752" y="1728216"/>
            <a:ext cx="1572768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251192" y="1819656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/ OpenAPI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7159752" y="2313432"/>
            <a:ext cx="1572768" cy="530352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7251192" y="2404872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7159752" y="2898648"/>
            <a:ext cx="1572768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7251192" y="2990088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7159752" y="3483864"/>
            <a:ext cx="1572768" cy="530352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7251192" y="3575304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73598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1139408"/>
            <a:ext cx="813816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0" y="1252728"/>
            <a:ext cx="2560320" cy="420624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91840" y="129844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(Web Browser)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480560" y="1673352"/>
            <a:ext cx="0" cy="219456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0" y="1847088"/>
            <a:ext cx="2560320" cy="530352"/>
          </a:xfrm>
          <a:prstGeom prst="rect">
            <a:avLst/>
          </a:prstGeom>
          <a:solidFill>
            <a:srgbClr val="111111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91840" y="189280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MVC Application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91840" y="212140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  |  Views  |  ViewModels</a:t>
            </a:r>
            <a:endParaRPr lang="en-US" sz="800" dirty="0">
              <a:solidFill>
                <a:schemeClr val="bg2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480560" y="2377440"/>
            <a:ext cx="0" cy="292608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0" y="2624328"/>
            <a:ext cx="2560320" cy="530352"/>
          </a:xfrm>
          <a:prstGeom prst="rect">
            <a:avLst/>
          </a:prstGeom>
          <a:solidFill>
            <a:srgbClr val="1A1A2E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91840" y="267004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Layer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91840" y="289864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API  |  Tickets API  |  Auth API</a:t>
            </a:r>
            <a:endParaRPr lang="en-US" sz="800" dirty="0">
              <a:solidFill>
                <a:schemeClr val="bg2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480560" y="3154680"/>
            <a:ext cx="0" cy="246888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00400" y="3401568"/>
            <a:ext cx="2560320" cy="420624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291840" y="344728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+ Repository Layer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480560" y="3822192"/>
            <a:ext cx="0" cy="173736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200400" y="3995928"/>
            <a:ext cx="2560320" cy="420624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91840" y="404164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Framework Core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480560" y="4416552"/>
            <a:ext cx="0" cy="82296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00400" y="4498848"/>
            <a:ext cx="2560320" cy="530352"/>
          </a:xfrm>
          <a:prstGeom prst="rect">
            <a:avLst/>
          </a:prstGeom>
          <a:solidFill>
            <a:srgbClr val="111111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291840" y="454456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Database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91840" y="477316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 |  Tickets  |  Identity Tables</a:t>
            </a:r>
            <a:endParaRPr lang="en-US" sz="800" dirty="0">
              <a:solidFill>
                <a:schemeClr val="bg2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5852160" y="25448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852160" y="282549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Authorization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34">
            <a:extLst>
              <a:ext uri="{FF2B5EF4-FFF2-40B4-BE49-F238E27FC236}">
                <a16:creationId xmlns:a16="http://schemas.microsoft.com/office/drawing/2014/main" id="{9F27E184-C475-E568-2F95-2F86374656AC}"/>
              </a:ext>
            </a:extLst>
          </p:cNvPr>
          <p:cNvSpPr/>
          <p:nvPr/>
        </p:nvSpPr>
        <p:spPr>
          <a:xfrm>
            <a:off x="4892040" y="4443984"/>
            <a:ext cx="3931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8550060" y="478688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410683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 Design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1096483"/>
            <a:ext cx="813816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284732"/>
            <a:ext cx="3931920" cy="38404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321308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668780"/>
            <a:ext cx="3931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1741932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016252"/>
            <a:ext cx="3931920" cy="347472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089404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363724"/>
            <a:ext cx="3931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2436876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711196"/>
            <a:ext cx="3931920" cy="347472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2784348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058668"/>
            <a:ext cx="3931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313182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406140"/>
            <a:ext cx="3931920" cy="347472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" y="3479292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CreatedAt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92040" y="1284732"/>
            <a:ext cx="3931920" cy="38404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0" y="1321308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Ticket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92040" y="1668780"/>
            <a:ext cx="3931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29200" y="1741932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92040" y="2016252"/>
            <a:ext cx="3931920" cy="347472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29200" y="2089404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92040" y="2363724"/>
            <a:ext cx="3931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029200" y="2436876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92040" y="2711196"/>
            <a:ext cx="3931920" cy="347472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029200" y="2784348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92040" y="3058668"/>
            <a:ext cx="3931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029200" y="313182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92040" y="3406140"/>
            <a:ext cx="3931920" cy="347472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029200" y="3479292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AssignedAgent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92040" y="3753612"/>
            <a:ext cx="3931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892040" y="4101084"/>
            <a:ext cx="3931920" cy="347472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029200" y="446913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UpdatedAt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-615587" y="4750308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Customer can have Many Tickets (1:N)</a:t>
            </a:r>
            <a:endParaRPr lang="en-US" sz="1000" dirty="0"/>
          </a:p>
        </p:txBody>
      </p:sp>
      <p:sp>
        <p:nvSpPr>
          <p:cNvPr id="42" name="Text 35"/>
          <p:cNvSpPr/>
          <p:nvPr/>
        </p:nvSpPr>
        <p:spPr>
          <a:xfrm>
            <a:off x="5029200" y="380388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CustomerId (FK)</a:t>
            </a:r>
            <a:endParaRPr lang="en-US" sz="1000" dirty="0"/>
          </a:p>
        </p:txBody>
      </p:sp>
      <p:sp>
        <p:nvSpPr>
          <p:cNvPr id="45" name="Text 37">
            <a:extLst>
              <a:ext uri="{FF2B5EF4-FFF2-40B4-BE49-F238E27FC236}">
                <a16:creationId xmlns:a16="http://schemas.microsoft.com/office/drawing/2014/main" id="{AF5B8825-3E0E-542A-B1CB-0590875BFE01}"/>
              </a:ext>
            </a:extLst>
          </p:cNvPr>
          <p:cNvSpPr/>
          <p:nvPr/>
        </p:nvSpPr>
        <p:spPr>
          <a:xfrm>
            <a:off x="5029200" y="4142232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CreatedAt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 Diagram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1261872"/>
            <a:ext cx="813816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97280" y="1554480"/>
            <a:ext cx="25603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97280" y="1554480"/>
            <a:ext cx="2560320" cy="38404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43000" y="1591056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34440" y="199339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234440" y="232257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234440" y="26527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234440" y="2971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234440" y="363931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CreatedAt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394960" y="1554480"/>
            <a:ext cx="2560320" cy="2809332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394960" y="1410790"/>
            <a:ext cx="2560320" cy="38404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40680" y="1476756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Ticket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532120" y="185949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532120" y="210050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532120" y="2594283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532120" y="284378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532120" y="3378705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CustomerId (FK)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532120" y="3116801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AssignedAgent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532120" y="3914285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CreatedAt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0" y="2834640"/>
            <a:ext cx="173736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474720" y="269748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49240" y="269748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931920" y="2606040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</a:t>
            </a:r>
            <a:endParaRPr lang="en-US" sz="900" dirty="0"/>
          </a:p>
        </p:txBody>
      </p:sp>
      <p:sp>
        <p:nvSpPr>
          <p:cNvPr id="29" name="Text 12">
            <a:extLst>
              <a:ext uri="{FF2B5EF4-FFF2-40B4-BE49-F238E27FC236}">
                <a16:creationId xmlns:a16="http://schemas.microsoft.com/office/drawing/2014/main" id="{0D4BE179-05C0-AD3D-EA67-38628F852CE7}"/>
              </a:ext>
            </a:extLst>
          </p:cNvPr>
          <p:cNvSpPr/>
          <p:nvPr/>
        </p:nvSpPr>
        <p:spPr>
          <a:xfrm>
            <a:off x="1233351" y="330098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</a:t>
            </a:r>
            <a:endParaRPr lang="en-US" sz="950" dirty="0"/>
          </a:p>
        </p:txBody>
      </p:sp>
      <p:sp>
        <p:nvSpPr>
          <p:cNvPr id="30" name="Text 18">
            <a:extLst>
              <a:ext uri="{FF2B5EF4-FFF2-40B4-BE49-F238E27FC236}">
                <a16:creationId xmlns:a16="http://schemas.microsoft.com/office/drawing/2014/main" id="{5F3B966E-9A25-57C5-9C9E-1E999DA390EA}"/>
              </a:ext>
            </a:extLst>
          </p:cNvPr>
          <p:cNvSpPr/>
          <p:nvPr/>
        </p:nvSpPr>
        <p:spPr>
          <a:xfrm>
            <a:off x="5532120" y="2338903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950" dirty="0"/>
          </a:p>
        </p:txBody>
      </p:sp>
      <p:sp>
        <p:nvSpPr>
          <p:cNvPr id="31" name="Text 22">
            <a:extLst>
              <a:ext uri="{FF2B5EF4-FFF2-40B4-BE49-F238E27FC236}">
                <a16:creationId xmlns:a16="http://schemas.microsoft.com/office/drawing/2014/main" id="{B816F28F-8934-72B3-F264-056490FE1593}"/>
              </a:ext>
            </a:extLst>
          </p:cNvPr>
          <p:cNvSpPr/>
          <p:nvPr/>
        </p:nvSpPr>
        <p:spPr>
          <a:xfrm>
            <a:off x="5532120" y="3722091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/>
              <a:t>UpdatedAt</a:t>
            </a:r>
            <a:br>
              <a:rPr lang="en-US" sz="1000" dirty="0"/>
            </a:b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Authentication &amp; Authorization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1261872"/>
            <a:ext cx="813816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Identity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6687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Handles user registration, hashing, and account management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22860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Bearer Tokens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494026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Issued on login, attached to every API request header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31089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Role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3147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Restricted to the Customer Portal only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9319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Role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41376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050" dirty="0">
                <a:solidFill>
                  <a:schemeClr val="accent3">
                    <a:lumMod val="50000"/>
                  </a:schemeClr>
                </a:solidFill>
              </a:rPr>
              <a:t>Access to Staff Dashboard, Customer Management, and Ticket Management</a:t>
            </a:r>
          </a:p>
        </p:txBody>
      </p:sp>
      <p:sp>
        <p:nvSpPr>
          <p:cNvPr id="14" name="Shape 12"/>
          <p:cNvSpPr/>
          <p:nvPr/>
        </p:nvSpPr>
        <p:spPr>
          <a:xfrm>
            <a:off x="4663440" y="1600200"/>
            <a:ext cx="1920240" cy="292608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54880" y="17830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754880" y="2176272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892040" y="2514600"/>
            <a:ext cx="146304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54880" y="265176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Accesses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754880" y="29260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Portal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12280" y="1600200"/>
            <a:ext cx="1920240" cy="2926080"/>
          </a:xfrm>
          <a:prstGeom prst="rect">
            <a:avLst/>
          </a:prstGeom>
          <a:solidFill>
            <a:srgbClr val="111111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903720" y="17830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Staff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903720" y="2176272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040880" y="2514600"/>
            <a:ext cx="146304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903720" y="265176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Accesses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903720" y="29260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Dashboard</a:t>
            </a:r>
            <a:endParaRPr lang="en-US" sz="11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9B25F562-8B4E-E7CF-2E43-F910E7F583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7271"/>
            <a:ext cx="9144000" cy="470895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JWT Authentication Flow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1261872"/>
            <a:ext cx="813816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508760"/>
            <a:ext cx="1920240" cy="3474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54533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1856232"/>
            <a:ext cx="1920240" cy="91440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19202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286000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/api/auth/login with credentials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331720" y="2313432"/>
            <a:ext cx="228600" cy="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560320" y="1508760"/>
            <a:ext cx="1920240" cy="3474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651760" y="154533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60320" y="1856232"/>
            <a:ext cx="1920240" cy="91440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651760" y="19202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Generate Token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51760" y="2286000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validates, issues signed JWT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480560" y="2313432"/>
            <a:ext cx="228600" cy="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09160" y="1508760"/>
            <a:ext cx="1920240" cy="3474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00600" y="154533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1856232"/>
            <a:ext cx="1920240" cy="91440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00600" y="19202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Authorize Swagger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00600" y="2286000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token into Swagger Authorize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629400" y="2313432"/>
            <a:ext cx="228600" cy="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858000" y="1508760"/>
            <a:ext cx="1920240" cy="3474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949440" y="154533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858000" y="1856232"/>
            <a:ext cx="1920240" cy="91440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949440" y="19202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 APIs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949440" y="2286000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validated on every protected endpoint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094014" y="2955879"/>
            <a:ext cx="6576332" cy="2040662"/>
          </a:xfrm>
          <a:prstGeom prst="rect">
            <a:avLst/>
          </a:prstGeom>
          <a:solidFill>
            <a:srgbClr val="E8E8E8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0" descr="C:\Users\archi\OneDrive\Desktop\Projects\Wipro\Practice\CustomerEngagementPlatform\screenshots\09_swagger_auth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87099" y="2955879"/>
            <a:ext cx="6204041" cy="204066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Portal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1261872"/>
            <a:ext cx="813816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C:\Users\archi\OneDrive\Desktop\Projects\Wipro\Practice\CustomerEngagementPlatform\screenshots\10_customer_portal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0466" y="1300313"/>
            <a:ext cx="5163094" cy="3383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23560" y="1463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Ticket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623560" y="1650492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new support requests with subject, description, and priority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623560" y="230428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Status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623560" y="2478024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real-time status of all submitted tickets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623560" y="314553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Details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623560" y="3304086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full thread and history for each ticket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623560" y="398678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History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623560" y="4123944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past tickets visible in one list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Staff Dashboard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1261872"/>
            <a:ext cx="813816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4937760" cy="3383280"/>
          </a:xfrm>
          <a:prstGeom prst="rect">
            <a:avLst/>
          </a:prstGeom>
          <a:solidFill>
            <a:srgbClr val="E8E8E8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C:\Users\archi\OneDrive\Desktop\Projects\Wipro\Practice\CustomerEngagementPlatform\screenshots\11_staff_dashboar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463040"/>
            <a:ext cx="4937760" cy="3383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23560" y="146304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623560" y="170992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registered customers in the system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623560" y="2139696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Tickets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623560" y="238658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count of all service requests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623560" y="281635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Tickets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623560" y="30632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still waiting for resolution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623560" y="349300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Tickets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623560" y="373989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closed tickets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623560" y="4169664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Unassigned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623560" y="441655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not yet assigned to any agent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Ticket Management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813816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261872"/>
            <a:ext cx="5571308" cy="3520438"/>
          </a:xfrm>
          <a:prstGeom prst="rect">
            <a:avLst/>
          </a:prstGeom>
          <a:solidFill>
            <a:srgbClr val="E8E8E8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C:\Users\archi\OneDrive\Desktop\Projects\Wipro\Practice\CustomerEngagementPlatform\screenshots\12_tickets_p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1825" y="1331292"/>
            <a:ext cx="5470888" cy="3383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28183" y="1386156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Ticket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228183" y="163304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can raise tickets on behalf of customers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228183" y="206281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Ticket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228183" y="233713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subject, description, priority, assigned agent, 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status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228183" y="273946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Agent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228183" y="298635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a ticket to a staff member for ownership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228183" y="3416124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Status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228183" y="366301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through Open, In Progress, Resolved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228183" y="409278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Filter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6228183" y="433966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status, priority, or keyword instantly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AJAX Implementation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1261872"/>
            <a:ext cx="813816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357883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Filtering and search happen without a full page reload. The ticket list updates live as the user types or picks a filter.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057400"/>
            <a:ext cx="5120640" cy="2651760"/>
          </a:xfrm>
          <a:prstGeom prst="rect">
            <a:avLst/>
          </a:prstGeom>
          <a:solidFill>
            <a:srgbClr val="E8E8E8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C:\Users\archi\OneDrive\Desktop\Projects\Wipro\Practice\CustomerEngagementPlatform\screenshots\13_ajax_filte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2057400"/>
            <a:ext cx="5120640" cy="2651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806440" y="1865378"/>
            <a:ext cx="29260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1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ticket subject or description</a:t>
            </a:r>
            <a:endParaRPr lang="en-US" sz="1150" b="1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status: Open / In Progress / Resolved</a:t>
            </a:r>
            <a:endParaRPr lang="en-US" sz="115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priority: Low / Medium / High</a:t>
            </a:r>
            <a:endParaRPr lang="en-US" sz="115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page reload on any filter action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 APIs &amp; Swagger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59" y="1226602"/>
            <a:ext cx="8223885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62916" y="1347339"/>
            <a:ext cx="5180238" cy="3381415"/>
          </a:xfrm>
          <a:prstGeom prst="rect">
            <a:avLst/>
          </a:prstGeom>
          <a:solidFill>
            <a:srgbClr val="E8E8E8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C:\Users\archi\OneDrive\Desktop\Projects\Wipro\Practice\CustomerEngagementPlatform\screenshots\14_swagger_ui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8871" y="1413306"/>
            <a:ext cx="5048328" cy="32438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806440" y="165718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API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806440" y="194065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/api/auth/login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806440" y="224886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API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806440" y="254147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/api/customers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806440" y="2797504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/api/customers/{id}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806440" y="31482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API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806440" y="3440828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/api/tickets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5806440" y="367857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/api/tickets/{id}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755004" y="1260075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non-auth endpoints require a valid JWT token in the Authorization header.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Rules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1261872"/>
            <a:ext cx="813816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45720" cy="502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13232" y="146304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can only access the Customer Portal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13232" y="1737360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Dashboard is blocked for the Customer role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2157984"/>
            <a:ext cx="45720" cy="502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13232" y="2157984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can access the Staff Dashboard, Customer Management, and Ticket Management modules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13232" y="2432304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Portal routes are restricted to Customer role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852928"/>
            <a:ext cx="45720" cy="502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13232" y="285292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tickets start as Unassigned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13232" y="3127248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agent is auto-assigned on creation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3547872"/>
            <a:ext cx="45720" cy="502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13232" y="3547872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lifecycle is enforced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13232" y="3822192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 --&gt;  In Progress  --&gt;  Resolved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4242816"/>
            <a:ext cx="45720" cy="502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13232" y="4242816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and ticket data are maintained through EF Core entity relationships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13232" y="4517136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orphaned ticket records in the database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Patterns &amp; Best Practices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1261872"/>
            <a:ext cx="813816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kern="0" spc="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737360"/>
            <a:ext cx="3749040" cy="77724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Pattern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12140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Model, View, Controller separation keeps concerns isolated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2651760"/>
            <a:ext cx="3749040" cy="77724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7432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Pattern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03580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 abstracted behind ITicketRepository interface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3566160"/>
            <a:ext cx="3749040" cy="77724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36576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Injection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95020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and repos registered in Program.cs via DI container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754880" y="14173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kern="0" spc="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Principles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754880" y="1737360"/>
            <a:ext cx="3931920" cy="7772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92040" y="18288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Responsibility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212140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class has one reason to change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2651760"/>
            <a:ext cx="3931920" cy="7772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92040" y="27432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Inversion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92040" y="303580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 depend on abstractions, not concrete classes</a:t>
            </a:r>
            <a:endParaRPr lang="en-US" sz="950" dirty="0"/>
          </a:p>
        </p:txBody>
      </p:sp>
      <p:sp>
        <p:nvSpPr>
          <p:cNvPr id="23" name="Shape 18">
            <a:extLst>
              <a:ext uri="{FF2B5EF4-FFF2-40B4-BE49-F238E27FC236}">
                <a16:creationId xmlns:a16="http://schemas.microsoft.com/office/drawing/2014/main" id="{C612AF6A-5910-14A9-2FAD-A9B55924D037}"/>
              </a:ext>
            </a:extLst>
          </p:cNvPr>
          <p:cNvSpPr/>
          <p:nvPr/>
        </p:nvSpPr>
        <p:spPr>
          <a:xfrm>
            <a:off x="4754880" y="3544503"/>
            <a:ext cx="3931920" cy="7772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13952A82-7EF2-6E9F-17A1-55AB18653ECD}"/>
              </a:ext>
            </a:extLst>
          </p:cNvPr>
          <p:cNvSpPr/>
          <p:nvPr/>
        </p:nvSpPr>
        <p:spPr>
          <a:xfrm>
            <a:off x="4892040" y="3635943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Open/Closed Principle </a:t>
            </a:r>
            <a:endParaRPr lang="en-US" sz="1200" dirty="0"/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3A255122-ED34-890E-C2FA-144EE708D526}"/>
              </a:ext>
            </a:extLst>
          </p:cNvPr>
          <p:cNvSpPr/>
          <p:nvPr/>
        </p:nvSpPr>
        <p:spPr>
          <a:xfrm>
            <a:off x="4892039" y="3928551"/>
            <a:ext cx="393191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abstraction allows extension without modifying controller logic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E420C74A-CDF1-8B89-C045-F002838B885E}"/>
              </a:ext>
            </a:extLst>
          </p:cNvPr>
          <p:cNvSpPr/>
          <p:nvPr/>
        </p:nvSpPr>
        <p:spPr>
          <a:xfrm>
            <a:off x="502920" y="14108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900" dirty="0"/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C36BE06E-F95D-D7B8-D280-80513DB79321}"/>
              </a:ext>
            </a:extLst>
          </p:cNvPr>
          <p:cNvSpPr/>
          <p:nvPr/>
        </p:nvSpPr>
        <p:spPr>
          <a:xfrm>
            <a:off x="502920" y="252767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Traditional vs Latest Approach</a:t>
            </a:r>
            <a:endParaRPr lang="en-US" sz="3400" dirty="0"/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80FB2618-1BAE-CFC8-4394-FB437AF2575F}"/>
              </a:ext>
            </a:extLst>
          </p:cNvPr>
          <p:cNvSpPr/>
          <p:nvPr/>
        </p:nvSpPr>
        <p:spPr>
          <a:xfrm>
            <a:off x="502920" y="934975"/>
            <a:ext cx="813816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668A0525-0F3E-0F00-04AB-5F7CADB3D9CB}"/>
              </a:ext>
            </a:extLst>
          </p:cNvPr>
          <p:cNvSpPr/>
          <p:nvPr/>
        </p:nvSpPr>
        <p:spPr>
          <a:xfrm>
            <a:off x="502919" y="948015"/>
            <a:ext cx="3180871" cy="2226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kern="0" spc="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</a:t>
            </a:r>
            <a:endParaRPr lang="en-US" sz="1400" dirty="0"/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C9455C6E-746B-D91A-25B5-377194494D7F}"/>
              </a:ext>
            </a:extLst>
          </p:cNvPr>
          <p:cNvSpPr/>
          <p:nvPr/>
        </p:nvSpPr>
        <p:spPr>
          <a:xfrm>
            <a:off x="502920" y="1214845"/>
            <a:ext cx="3180871" cy="2233041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 sz="1600" dirty="0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946E4AA2-4050-8C2C-59BC-52C75F828B0C}"/>
              </a:ext>
            </a:extLst>
          </p:cNvPr>
          <p:cNvSpPr/>
          <p:nvPr/>
        </p:nvSpPr>
        <p:spPr>
          <a:xfrm>
            <a:off x="693148" y="1117485"/>
            <a:ext cx="2948124" cy="24819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 directly handled database queries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page reload after every search or filter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login-based access only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database changes without migration tracking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separation between UI, business logic, and data access</a:t>
            </a:r>
            <a:endParaRPr lang="en-US" sz="1400" dirty="0"/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6E89FB6E-1ECD-0DF0-D5FE-7E3157AE01DB}"/>
              </a:ext>
            </a:extLst>
          </p:cNvPr>
          <p:cNvSpPr/>
          <p:nvPr/>
        </p:nvSpPr>
        <p:spPr>
          <a:xfrm>
            <a:off x="4754880" y="894806"/>
            <a:ext cx="3336035" cy="2226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kern="0" spc="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</a:t>
            </a:r>
            <a:endParaRPr lang="en-US" sz="1400" dirty="0"/>
          </a:p>
        </p:txBody>
      </p:sp>
      <p:sp>
        <p:nvSpPr>
          <p:cNvPr id="16" name="Shape 15">
            <a:extLst>
              <a:ext uri="{FF2B5EF4-FFF2-40B4-BE49-F238E27FC236}">
                <a16:creationId xmlns:a16="http://schemas.microsoft.com/office/drawing/2014/main" id="{606C9934-6E16-B723-66B4-181114764B73}"/>
              </a:ext>
            </a:extLst>
          </p:cNvPr>
          <p:cNvSpPr/>
          <p:nvPr/>
        </p:nvSpPr>
        <p:spPr>
          <a:xfrm>
            <a:off x="4754879" y="1117485"/>
            <a:ext cx="3336035" cy="2330401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C388BCAB-A45D-9DE1-4EE6-AAA26773109E}"/>
              </a:ext>
            </a:extLst>
          </p:cNvPr>
          <p:cNvSpPr/>
          <p:nvPr/>
        </p:nvSpPr>
        <p:spPr>
          <a:xfrm>
            <a:off x="4859383" y="1214845"/>
            <a:ext cx="3025706" cy="20449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Pattern separates data access from controllers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AJAX filtering updates ticket list without full page reload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JWT-secured REST APIs support future integration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Core migrations track database schema changes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MVC, Service, Repository, and Database layers keep code organized</a:t>
            </a:r>
            <a:endParaRPr lang="en-US" sz="1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C954FB9-F828-36ED-F17B-86CEEE73D833}"/>
              </a:ext>
            </a:extLst>
          </p:cNvPr>
          <p:cNvSpPr txBox="1"/>
          <p:nvPr/>
        </p:nvSpPr>
        <p:spPr>
          <a:xfrm>
            <a:off x="457200" y="350637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10 most Important Modules</a:t>
            </a:r>
            <a:endParaRPr lang="en-US" sz="18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932AB5F-CC34-A980-DC15-5F58A208B9B3}"/>
              </a:ext>
            </a:extLst>
          </p:cNvPr>
          <p:cNvSpPr txBox="1"/>
          <p:nvPr/>
        </p:nvSpPr>
        <p:spPr>
          <a:xfrm>
            <a:off x="457200" y="3914436"/>
            <a:ext cx="833165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 kern="0" spc="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Management | Ticket Management | Customer Portal | Staff Dashboard | Authentication | JWT APIs | AJAX Filtering | Repository Layer | EF Core Database | Testing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26523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Testing &amp; Validation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1261872"/>
            <a:ext cx="813816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2651760" cy="2011680"/>
          </a:xfrm>
          <a:prstGeom prst="rect">
            <a:avLst/>
          </a:prstGeom>
          <a:solidFill>
            <a:srgbClr val="E8E8E8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C:\Users\archi\OneDrive\Desktop\Projects\Wipro\Practice\CustomerEngagementPlatform\screenshots\17a_swagger_tes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463040"/>
            <a:ext cx="2651760" cy="20116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291840" y="1463040"/>
            <a:ext cx="2651760" cy="2011680"/>
          </a:xfrm>
          <a:prstGeom prst="rect">
            <a:avLst/>
          </a:prstGeom>
          <a:solidFill>
            <a:srgbClr val="E8E8E8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C:\Users\archi\OneDrive\Desktop\Projects\Wipro\Practice\CustomerEngagementPlatform\screenshots\17b_databas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291840" y="1463040"/>
            <a:ext cx="2651760" cy="201168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080760" y="1463040"/>
            <a:ext cx="2651760" cy="2011680"/>
          </a:xfrm>
          <a:prstGeom prst="rect">
            <a:avLst/>
          </a:prstGeom>
          <a:solidFill>
            <a:srgbClr val="E8E8E8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2" descr="C:\Users\archi\OneDrive\Desktop\Projects\Wipro\Practice\CustomerEngagementPlatform\screenshots\17c_app_output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080760" y="1463040"/>
            <a:ext cx="2651760" cy="20116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02920" y="352044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response: 200 OK</a:t>
            </a:r>
            <a:endParaRPr lang="en-US" sz="850" dirty="0"/>
          </a:p>
        </p:txBody>
      </p:sp>
      <p:sp>
        <p:nvSpPr>
          <p:cNvPr id="13" name="Text 8"/>
          <p:cNvSpPr/>
          <p:nvPr/>
        </p:nvSpPr>
        <p:spPr>
          <a:xfrm>
            <a:off x="3291840" y="352044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Server: all tables created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6080760" y="352044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live data</a:t>
            </a:r>
            <a:endParaRPr lang="en-US" sz="850" dirty="0"/>
          </a:p>
        </p:txBody>
      </p:sp>
      <p:sp>
        <p:nvSpPr>
          <p:cNvPr id="15" name="Text 10"/>
          <p:cNvSpPr/>
          <p:nvPr/>
        </p:nvSpPr>
        <p:spPr>
          <a:xfrm>
            <a:off x="502920" y="3794760"/>
            <a:ext cx="8138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were executed using dotnet test</a:t>
            </a:r>
            <a:endParaRPr lang="en-US" sz="11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testing</a:t>
            </a: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verified Customer and Staff route restrictions</a:t>
            </a:r>
            <a:endParaRPr lang="en-US" sz="11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testing: </a:t>
            </a: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token generation, Swagger Authorization, and protected API access</a:t>
            </a:r>
            <a:endParaRPr lang="en-US" sz="11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 validation across Customer and Ticket modules</a:t>
            </a:r>
            <a:endParaRPr lang="en-US" sz="11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validation tested via Swagger with valid and invalid payloads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4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WIPRO CAPSTONE PROJECT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&amp; Future Scope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786384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Built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810512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management with full CRUD</a:t>
            </a:r>
            <a:endParaRPr lang="en-US" sz="12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lifecycle management</a:t>
            </a:r>
            <a:endParaRPr lang="en-US" sz="12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 for staff</a:t>
            </a:r>
            <a:endParaRPr lang="en-US" sz="12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JWT-secured REST API layer</a:t>
            </a:r>
            <a:endParaRPr lang="en-US" sz="12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Swagger-documented endpoints</a:t>
            </a:r>
            <a:endParaRPr lang="en-US" sz="12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AJAX-powered filtering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46320" y="1463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846320" y="1810512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notifications on ticket updates</a:t>
            </a:r>
            <a:endParaRPr lang="en-US" sz="12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ticket summarization</a:t>
            </a:r>
            <a:endParaRPr lang="en-US" sz="12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workload balancing</a:t>
            </a:r>
            <a:endParaRPr lang="en-US" sz="12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 (Azure / AWS)</a:t>
            </a:r>
            <a:endParaRPr lang="en-US" sz="12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 and reporting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80560" y="1463040"/>
            <a:ext cx="0" cy="338328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475488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Saumya Singh  |  Wipro Capstone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1041</TotalTime>
  <Words>1106</Words>
  <Application>Microsoft Office PowerPoint</Application>
  <PresentationFormat>On-screen Show (16:9)</PresentationFormat>
  <Paragraphs>296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Engagement Platform</dc:title>
  <dc:subject>PptxGenJS Presentation</dc:subject>
  <dc:creator>Saumya Singh</dc:creator>
  <cp:lastModifiedBy>Archit Shukla</cp:lastModifiedBy>
  <cp:revision>5</cp:revision>
  <dcterms:created xsi:type="dcterms:W3CDTF">2026-06-05T05:25:18Z</dcterms:created>
  <dcterms:modified xsi:type="dcterms:W3CDTF">2026-06-06T00:07:32Z</dcterms:modified>
</cp:coreProperties>
</file>